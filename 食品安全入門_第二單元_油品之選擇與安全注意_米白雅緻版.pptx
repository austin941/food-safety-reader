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spcAft>
                <a:spcPts val="1600"/>
              </a:spcAft>
              <a:defRPr sz="1200" b="1">
                <a:solidFill>
                  <a:srgbClr val="15803D"/>
                </a:solidFill>
              </a:defRPr>
            </a:pPr>
            <a:r>
              <a:t>FOOD SAFETY &amp; NUTRITION MASTERCLASS</a:t>
            </a:r>
          </a:p>
          <a:p>
            <a:pPr>
              <a:spcAft>
                <a:spcPts val="1400"/>
              </a:spcAft>
              <a:defRPr sz="2900" b="1">
                <a:solidFill>
                  <a:srgbClr val="1C1917"/>
                </a:solidFill>
              </a:defRPr>
            </a:pPr>
            <a:r>
              <a:t>食品安全入門：油品之選擇與安全注意</a:t>
            </a:r>
          </a:p>
          <a:p>
            <a:pPr>
              <a:spcAft>
                <a:spcPts val="3600"/>
              </a:spcAft>
              <a:defRPr sz="1450">
                <a:solidFill>
                  <a:srgbClr val="78716C"/>
                </a:solidFill>
              </a:defRPr>
            </a:pPr>
            <a:r>
              <a:t>從油脂化學結構、精煉工藝、發煙點匹配到高溫劣變與安全防弊全解析</a:t>
            </a:r>
          </a:p>
          <a:p>
            <a:pPr>
              <a:defRPr sz="1250">
                <a:solidFill>
                  <a:srgbClr val="15803D"/>
                </a:solidFill>
              </a:defRPr>
            </a:pPr>
            <a:r>
              <a:t>課程講授：施明智 教授（文化大學保健營養學系 / 衛福部餐飲 HACCP 評鑑委員）</a:t>
            </a:r>
            <a:br/>
            <a:r>
              <a:t>專題整理：第二單元（2-1 至 2-6）全方位精析（米白雅緻精萃版）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食用油脂的化學結構與脂肪酸分類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三酸甘油酯結構、飽和與不飽和脂肪酸、必需脂肪酸之生化本質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三酸甘油酯基本骨架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油脂化學基石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食用油脂 95% 以上為三酸甘油酯 (Triglycerides, TG)。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由 1 分子甘油與 3 分子脂肪酸以酯鍵結合而成。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脂肪酸鏈長度（短/中/長鏈）與雙鍵數目決定油脂的融點、穩定性與營養特質。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常溫下呈固態稱為『脂 (Fat)』，呈液態稱為『油 (Oil)』。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飽和 vs. 不飽和脂肪酸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心血管健康關聯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飽和脂肪酸 (SFA)：碳鏈無雙鍵，分子緊密排列。</a:t>
            </a:r>
            <a:br/>
            <a:r>
              <a:t>  - 耐熱穩定，但過量攝取促使低密度膽固醇 (LDL) 堆積血管，增加心血管疾病風險。</a:t>
            </a:r>
            <a:br/>
            <a:r>
              <a:t>  - 來源：豬油、牛油、棕櫚油、椰子油。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單元不飽和脂肪酸 (MUFA)：含 1 個雙鍵（如油酸 Oleic acid）。</a:t>
            </a:r>
            <a:br/>
            <a:r>
              <a:t>  - 具保護心血管、抗氧化優勢，且熱穩定性優於多元油。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多元不飽和與必需脂肪酸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必需營養與抗發炎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多元不飽和脂肪酸 (PUFA)：含 2 個以上雙鍵。</a:t>
            </a:r>
            <a:br/>
            <a:r>
              <a:t>  - 雙鍵多易氧化，但為人體不可或缺之營養素。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人體無法自行合成之【必需脂肪酸】：</a:t>
            </a:r>
            <a:br/>
            <a:r>
              <a:t>  1. ω-6 亞麻油酸 (Linoleic acid)</a:t>
            </a:r>
            <a:br/>
            <a:r>
              <a:t>  2. ω-3 次亞麻油酸 (α-Linolenic acid)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ω-3 可在體內轉化為抗發炎之 EPA 與 DHA。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現代人外食常導致 ω-6 與 ω-3 比例嚴重失衡 (高達 15:1)。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動物油 vs. 植物油：特性對比與飲食原則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膽固醇有無、飽和度差異與現代人減少飽和脂肪酸之健康指引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動物油脂特性與應用侷限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高穩定但需限量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含膽固醇：豬油、牛油、羊油、雞油等天然含有膽固醇（魚油除外）。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物理特性：飽和脂肪酸高，常溫下呈半固體，熱穩定性極高，耐得住長時間高溫油炸不易氧化變質。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風味特色：油脂香氣濃郁，常用於傳統中式糕餅與油炸點心。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健康風險：過量攝取飽和脂肪易造成動脈粥狀硬化與高血壓。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例外特例：【魚油】富含多元不飽和脂肪酸（EPA、DHA），能抗發炎、降三酸甘油酯，極不耐高溫！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植物油脂特性與飲食指南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降膽固醇・植物優先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不含膽固醇：大豆沙拉油、菜籽油、葵花油、橄欖油等植物來源一律無膽固醇。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物理特性：不飽和脂肪酸高，常溫為流動液態，能降低血液中壞膽固醇，但遇高溫熱不穩定易聚合。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熱帶油脂例外：【棕櫚油】與【椰子油】雖為植物油，飽和脂肪酸卻高達 50%~85%，性質似動物油。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飲食原則指引：</a:t>
            </a:r>
            <a:br/>
            <a:r>
              <a:t>  - 日常烹飪應以單元不飽和與多元不飽和植物油為主。</a:t>
            </a:r>
            <a:br/>
            <a:r>
              <a:t>  - 減少加工食品中反覆使用的牛油、棕櫚油及加工氫化人造奶油。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油脂加工製程三大路徑與精煉四部曲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煎熬法、壓榨法（冷壓/熱榨）與化學溶劑浸提法的工藝差異與精製目的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三大油脂提煉工藝路徑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原料決定製程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1. 煎熬法 (Rendering)：用於動物油脂（豬油、牛油），切碎後加熱融出，香氣撲鼻。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2. 壓榨法 (Pressing)：用於高含油種子（花生、芝麻、苦茶籽、橄欖）。</a:t>
            </a:r>
            <a:br/>
            <a:r>
              <a:t>  - 冷壓 (Cold-pressed)：未經高溫焙炒，在低溫下機械壓榨，保留最多天然多酚與維生素E，得油率低於 25%。</a:t>
            </a:r>
            <a:br/>
            <a:r>
              <a:t>  - 熱榨 (Hot-pressed)：經高溫炒焙後螺旋壓榨，出油率達 40% 以上，焦香味濃但營養略有流失。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3. 溶劑浸提法 (Solvent Extraction)：用於大豆等含油率較低原料，使用食品級溶劑【正己烷】充分萃取，出油效率極高，為沙拉油主要來源。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精製油 (Refined Oil) 關鍵四部曲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提升發煙點核心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粗油（毛油）含有膠質、游離脂肪酸、色素與雜質，必須依序精製：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① 脫膠 (Degumming)：加水水化去除磷脂膠質，防止加熱燒焦冒煙。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② 脫酸 (Deacidification)：加鹼（氫氧化鈉）中和游離脂肪酸，降低酸價 (Acid Value)。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③ 脫色 (Bleaching)：以活性白土或活性碳吸附色素（葉綠素、類胡蘿蔔素）。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④ 高溫脫臭 (Deodorization)：高真空（230~250°C）蒸氣去除揮發性異味分子與殘留溶劑。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精製後成品：清澈如水、無特殊雜味、發煙點顯著拉高至 230°C 以上。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各種食用油發煙點 (Smoke Point) 全覽表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發煙點即油脂開始受熱裂解、冒出藍煙產生致癌物質的最低溫度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77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20670"/>
                <a:gridCol w="2743200"/>
                <a:gridCol w="2620670"/>
              </a:tblGrid>
              <a:tr h="5829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油品種類（未精製 / 精製）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發煙點 (°C)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油品種類（未精製 / 精製）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發煙點 (°C)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牛油 (未精製)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149°C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精製大豆油 (沙拉油)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232°C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芝麻油 (未精製)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160°C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玉米油 (精製)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232°C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未精製椰子油 / 花生油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177°C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精製花生油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232°C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豬脂 / 豬油 / 酥油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182°C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菜籽油 (精製)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232°C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特級初榨橄欖油 (Extra Virgin)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191°C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芥花油 (Canola Oil)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240°C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棕櫚油 (Palm Oil)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206°C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苦茶油 / 油茶油 (Camellia)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252°C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棉籽油 / 葡萄籽油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216°C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米糠油 (Rice Bran Oil)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1917"/>
                          </a:solidFill>
                        </a:defRPr>
                      </a:pPr>
                      <a:r>
                        <a:t>254°C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油脂高溫劣變機制與油炸油管理法規標準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自動氧化自由基反應、水解聚合反應與總極性化合物 ≥ 25% 換油鐵律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高溫油炸劣變三大化學機制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不可逆化學破壞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① 水解反應 (Hydrolysis)：炸物水分進入熱油，三酸甘油酯水解生成甘油與游離脂肪酸，造成【酸價 (AV) 上升】與發煙點快速驟降。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② 自動氧化 (Auto-oxidation)：熱與氧氣促使不飽和雙鍵產生自由基，形成不穩定過氧化物，再裂解為醛、酮、環狀化合物，散發油耗味。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③ 熱聚合反應 (Thermal Polymerization)：高分子聚合物生成，油質黏稠發黑、起泡難消，在炸鍋邊緣形成頑固焦黏油垢。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健康危害：衍生反式脂肪酸、多環芳香烴 (PAHs) 及致癌性【丙烯醯胺 (Acrylamide)】。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衛福部油炸油更換法定標準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法定換油兩大鐵律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餐飲業與夜市攤商油炸油出現以下任一狀況，依法必須【立即全鍋換油】：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★ 總極性化合物 (TPC) 含量：【總極性化合物 ≥ 25%】（最科學客觀之法定裁罰指標，可用手持檢測儀 20 秒判定）。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★ 酸價 (Acid Value, AV)：【酸價 &gt; 2.0 mg KOH/g】（以石蕊試紙或滴定檢測）。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感官判斷警訊：</a:t>
            </a:r>
            <a:br/>
            <a:r>
              <a:t>  - 油炸時油煙大量冒出（發煙點降至油炸溫度 170°C 以下）。</a:t>
            </a:r>
            <a:br/>
            <a:r>
              <a:t>  - 炸油顏色明顯變黑且黏稠度大增。</a:t>
            </a:r>
            <a:br/>
            <a:r>
              <a:t>  - 滴入炸物時泡沫超過鍋面 1/2 且細小久聚不退。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劣質地溝油事件與棉籽油混油案真相剖析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回顧大統混油案、棉酚 (Gossypol) 科學迷思與現代食安追溯追蹤體系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大統棉籽油混油案之科學真相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破解棉酚恐慌迷思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大統案核心問題：【標示不實、攙偽假冒欺詐】！以低價棉籽油混合葵花油，再非法添加『銅葉綠素』染色假冒高級橄欖油牟取暴利。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名嘴專家之誤導：當時媒體大肆宣傳『吃棉籽油會殺精絕育』引發全國恐慌。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施明智教授專業澄清：</a:t>
            </a:r>
            <a:br/>
            <a:r>
              <a:t>  - 有毒棉酚 (Gossypol) 僅存在於粗製毛油中。</a:t>
            </a:r>
            <a:br/>
            <a:r>
              <a:t>  - 棉籽油經過完整精煉（脫酸、脫色、脫臭）後，棉酚已被澈底去除至未檢出，歐美各國皆合法安全食用！</a:t>
            </a:r>
            <a:br/>
            <a:r>
              <a:t>  - 罪在於商業詐欺與非法添加染劑，非棉籽油本身有毒。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回收油/地溝油的檢驗困境與防弊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從檢驗轉向源頭防堵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強冠地溝油事件：不肖業者收購皮革廢油、餿水油，經脫色脫臭混入食用豬油。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檢驗盲點：精煉技術可將餿水油之酸價、過氧化價洗成『完全符合 CNS 標準』，常規化驗根本查不出！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科技防弊新典範：</a:t>
            </a:r>
            <a:br/>
            <a:r>
              <a:t>  - 檢驗指標升級：檢測皮革防腐劑（五氯酚）、重金屬、苯駢芘及極性聚合物。</a:t>
            </a:r>
            <a:br/>
            <a:r>
              <a:t>  - 源頭制度革新：建立【非追不可（食品追溯追蹤系統）】與廢食用油一律交由合法回收環保業者申報流向，從源頭堵死回流可能。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CHAPTER 2-6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烹調方式與油品精準匹配指南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低溫涼拌、中溫水炒與高溫油炸的發煙點對應及苦茶油保健優勢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三大烹調情境精準用油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發煙點匹配原則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涼拌、低溫溫拌 (&lt; 120°C)：</a:t>
            </a:r>
            <a:br/>
            <a:r>
              <a:t>  - 推薦：特級初榨橄欖油 (Extra Virgin)、冷壓芝麻油、亞麻仁油。</a:t>
            </a:r>
            <a:br/>
            <a:r>
              <a:t>  - 優勢：完整保留天然多酚、維生素E及珍貴 ω-3 脂肪酸，避免高溫裂解。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中溫煎炒、水煮炒菜 (140°C ~ 180°C)：</a:t>
            </a:r>
            <a:br/>
            <a:r>
              <a:t>  - 推薦：精製芥花油、大豆沙拉油、米糠油、一般橄欖油 (Pure)。</a:t>
            </a:r>
            <a:br/>
            <a:r>
              <a:t>  - 技巧：採『水炒法』（先加少量水再加油），水沸騰上限 100°C 可有效壓制油溫不超標。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高溫油炸、烘烤 (180°C ~ 200°C)：</a:t>
            </a:r>
            <a:br/>
            <a:r>
              <a:t>  - 推薦：棕櫚油、精製椰子油、高油酸葵花油、苦茶油。</a:t>
            </a:r>
            <a:br/>
            <a:r>
              <a:t>  - 禁忌：嚴禁用未精製橄欖油或大豆沙拉油久炸，易生大量有害醛類。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『東方橄欖油』苦茶油之保健優勢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耐高溫兼具高機能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單元不飽和脂肪酸（油酸）高達 80%：超越初榨橄欖油，有助調節血脂與膽固醇。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超高發煙點 (252°C)：兼具健康與耐高溫特性，煎、煮、炒、炸皆適宜。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豐富機能性成分：富含茶多酚、葉綠素、山茶苷與角鯊烯。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傳統實證保健效能：中醫與現代營養學證實能保護胃黏膜、輔助改善消化性潰瘍、抗氧化延長細胞壽命。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家用油品保存四原則：【避光線、避高溫、避水分、避空氣】，開瓶後儘速於 3 個月內用畢。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0116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CRITICAL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</a:defRPr>
            </a:pPr>
            <a:r>
              <a:t>第二單元前瞻延伸思考：油脂科技與現代飲食省思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78716C"/>
                </a:solidFill>
              </a:defRPr>
            </a:pPr>
            <a:r>
              <a:t>反式脂肪新禁令、氣炸鍋高溫熱氧化盲點與棕櫚油生態永續兩難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思考一：人工反式脂肪禁用後的替代油脂挑戰</a:t>
            </a:r>
          </a:p>
          <a:p>
            <a:pPr>
              <a:spcAft>
                <a:spcPts val="800"/>
              </a:spcAft>
              <a:defRPr sz="1050" b="1">
                <a:solidFill>
                  <a:srgbClr val="15803D"/>
                </a:solidFill>
              </a:defRPr>
            </a:pPr>
            <a:r>
              <a:t>【 油脂改良兩難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台灣已全面禁用『不完全氫化油』，食品界改以【全氫化油】或【棕櫚油】替代。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隱患：雖消除了反式脂肪，但棕櫚油飽和脂肪高達 50%，烘焙糕餅中長期攝取是否轉嫁心血管負擔？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解方：發展『酵素交酯化 (Interesterification)』技術，重塑健康脂肪酸構型。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思考二：氣炸鍋 (Air Fryer) 真的更健康嗎？</a:t>
            </a:r>
          </a:p>
          <a:p>
            <a:pPr>
              <a:spcAft>
                <a:spcPts val="800"/>
              </a:spcAft>
              <a:defRPr sz="1050" b="1">
                <a:solidFill>
                  <a:srgbClr val="C2410C"/>
                </a:solidFill>
              </a:defRPr>
            </a:pPr>
            <a:r>
              <a:t>【 新興家電迷思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風潮：訴求少油甚至無油烘烤，廣受注重健康大眾歡迎。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盲點：熱風循環溫度高達 180~200°C，肉類油脂在高速熱風與金屬表面極易產生『超氧化反應』形成大量膽固醇氧化物 (COPs) 與雜環胺致癌物。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解方：設定溫度不超過 160°C，底部滴落之廢油絕不可重複淋回肉品。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思考三：棕櫚油產業與熱帶雨林生態代價</a:t>
            </a:r>
          </a:p>
          <a:p>
            <a:pPr>
              <a:spcAft>
                <a:spcPts val="800"/>
              </a:spcAft>
              <a:defRPr sz="1050" b="1">
                <a:solidFill>
                  <a:srgbClr val="B45309"/>
                </a:solidFill>
              </a:defRPr>
            </a:pPr>
            <a:r>
              <a:t>【 環境永續考量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現況：棕櫚油為全球產量最大之食用植物油，洋芋片、泡麵、肥皂幾乎無所不在。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代價：印尼與馬來西亞為開闢油棕園大量砍伐熱帶雨林，紅毛猩猩瀕危與泥炭地大火引發全球暖化。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解方：支持【永續棕櫚油認證 (RSPO)】，倡議企業不採購涉及毀林之爭議油品。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C1917"/>
                </a:solidFill>
              </a:defRPr>
            </a:pPr>
            <a:r>
              <a:t>思考四：外食族『油品知情權』與檢驗標章升級</a:t>
            </a:r>
          </a:p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</a:defRPr>
            </a:pPr>
            <a:r>
              <a:t>【 食安知情權落實 】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現況：消費者在高級餐廳或街頭小吃消費，根本無從得知店家使用的油品種類與 TPC 數值。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盲點：稽查為抽驗制，夜市攤販油炸油常依賴肉眼判斷，更換不及時。</a:t>
            </a:r>
          </a:p>
          <a:p>
            <a:pPr>
              <a:spcAft>
                <a:spcPts val="400"/>
              </a:spcAft>
              <a:defRPr sz="1150">
                <a:solidFill>
                  <a:srgbClr val="44403C"/>
                </a:solidFill>
              </a:defRPr>
            </a:pPr>
            <a:r>
              <a:t>• 解方：推動小吃油炸油更換即時公示制度，採用數位化 TPC 試紙透明化評級。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