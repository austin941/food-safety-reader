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40080"/>
          <a:lstStyle/>
          <a:p>
            <a:pPr algn="ctr">
              <a:spcAft>
                <a:spcPts val="1600"/>
              </a:spcAft>
              <a:defRPr sz="1200" b="1">
                <a:solidFill>
                  <a:srgbClr val="15803D"/>
                </a:solidFill>
              </a:defRPr>
            </a:pPr>
            <a:r>
              <a:t>FOOD SAFETY &amp; TOXICOLOGY MASTERCLASS</a:t>
            </a:r>
          </a:p>
          <a:p>
            <a:pPr>
              <a:spcAft>
                <a:spcPts val="1400"/>
              </a:spcAft>
              <a:defRPr sz="2900" b="1">
                <a:solidFill>
                  <a:srgbClr val="1C1917"/>
                </a:solidFill>
              </a:defRPr>
            </a:pPr>
            <a:r>
              <a:t>食品安全入門：認識食品添加物</a:t>
            </a:r>
          </a:p>
          <a:p>
            <a:pPr>
              <a:spcAft>
                <a:spcPts val="3600"/>
              </a:spcAft>
              <a:defRPr sz="1450">
                <a:solidFill>
                  <a:srgbClr val="78716C"/>
                </a:solidFill>
              </a:defRPr>
            </a:pPr>
            <a:r>
              <a:t>從肉丸子黑心案例、安全性科學評估 ADI、常見防腐劑機制到亞硝酸鹽風險平衡全剖析</a:t>
            </a:r>
          </a:p>
          <a:p>
            <a:pPr>
              <a:defRPr sz="1250">
                <a:solidFill>
                  <a:srgbClr val="15803D"/>
                </a:solidFill>
              </a:defRPr>
            </a:pPr>
            <a:r>
              <a:t>課程講授：施明智 教授（文化大學保健營養學系 / 衛福部餐飲 HACCP 評鑑委員）</a:t>
            </a:r>
            <a:br/>
            <a:r>
              <a:t>專題整理：第三單元（3-1 至 3-5）全方位精析（米白雅緻精萃版）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3-1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食品添加物的定義、歷史背景與產業必要性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剖析安部司《恐怖的食品添加物》肉丸子案例與天然 vs. 合成之本質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安部司經典『肉丸子復活記』剖析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食品工業魔術之省思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案例緣起：前添加物頂尖推銷員安部司在書中揭露的現代食品工業魔術。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原料來源：原本毫無黏性、必須丟棄的牛豬邊角碎肉與牛骨肉碎屑。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添加物組裝法：</a:t>
            </a:r>
            <a:br/>
            <a:r>
              <a:t>  ① 加入【牛肉精與化學調味料】重塑濃郁肉味。</a:t>
            </a:r>
            <a:br/>
            <a:r>
              <a:t>  ② 加入【大豆分離蛋白與黏稠劑（卡拉膠）】塑造結實肉丸彈性口感。</a:t>
            </a:r>
            <a:br/>
            <a:r>
              <a:t>  ③ 淋醬加入【著色劑（焦糖色素）、酸味劑、黏稠劑】調出色香味俱全之紅燒醬。</a:t>
            </a:r>
            <a:br/>
            <a:r>
              <a:t>  ④ 封入真空袋加熱殺菌，一舉化身為熱賣平價肉丸！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震撼省思：添加物讓原本的廚餘垃圾合法變身商品，促使大眾省思『方便便宜』的真正代價。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食品添加物之法定定義與分類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文明供糧必備基石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法定定義：指食品在製造、加工、調配、包裝、運送、貯存等過程中，用以著色、調味、防腐、漂白、乳化、增加黏稠度、強化營養等目的而添加之物質。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來源分類：</a:t>
            </a:r>
            <a:br/>
            <a:r>
              <a:t>  - 天然來源：如胭脂紅（胭脂蟲萃取）、甜菜紅、薑黃素、大豆卵磷脂。</a:t>
            </a:r>
            <a:br/>
            <a:r>
              <a:t>  - 化學合成：精準純化合成，純度高、成本低、品質穩定。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客觀價值：食品添加物並非洪水猛獸，它支撐了現代都市文明的大規模供糧、延長常溫保存期並消除了肉毒桿菌等急性致命風險。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添加物毒理學安全性評估與法規管理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每日可接受攝取量 (ADI) 推導公式、100倍安全係數與正面表列管制體系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毒理學核心指標與 ADI 科學推導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嚴謹毒理學推導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無毒害劑量 (NOAEL, No Observed Adverse Effect Level)：</a:t>
            </a:r>
            <a:br/>
            <a:r>
              <a:t>  - 對動物進行長期、高劑量慢性毒性與致畸性實驗，所測得完全未觀察到任何有害效應的最大劑量（單位：mg/kg bw/day）。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安全係數 (Safety Factor = 100)：</a:t>
            </a:r>
            <a:br/>
            <a:r>
              <a:t>  - 考量【動物與人體種屬差異】（10倍）×【不同人體體質個體敏感度差異】（10倍）= 100 倍嚴苛防護！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每日可接受攝取量 (ADI, Acceptable Daily Intake)：</a:t>
            </a:r>
            <a:br/>
            <a:r>
              <a:t>  ★ 公式：ADI = NOAEL ÷ 100</a:t>
            </a:r>
            <a:br/>
            <a:r>
              <a:t>  - 定義：一個人一生中每天攝入該劑量，對健康終身無可察覺之風險！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台灣法規管理架構：正面表列體系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正面表列鐵律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正面表列制度 (Positive List)：</a:t>
            </a:r>
            <a:br/>
            <a:r>
              <a:t>  - 法律明文規定『只有表列許可的品項才可使用』，未列入者一律違法禁加！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三位一體嚴格規範：</a:t>
            </a:r>
            <a:br/>
            <a:r>
              <a:t>  ① 規定食品品名：嚴格規範使用範圍（如某些防腐劑僅准加在豆干，嚴禁加在鮮奶）。</a:t>
            </a:r>
            <a:br/>
            <a:r>
              <a:t>  ② 規定最高使用限量：單位多為 g/kg 或 ppm，以確保一般飲食總量遠低於 ADI。</a:t>
            </a:r>
            <a:br/>
            <a:r>
              <a:t>  ③ 規定使用目的限制：不得用於掩蓋食品腐敗劣質之詐欺行為。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業者責任：添加物必須具備『食品添加物查驗登記許可證』，外包裝需完整展開標示中文學名。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3-3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常見易超標添加物與一氧化碳 (CO) 發色作假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泡麵、餅乾、果凍之添加劑風險與黑心海鮮一氧化碳染色案例剖析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常見包裝食品中易超標添加劑盤點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高風險零食盤點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泡麵油包：為防高溫熱炸麵體與調味油包氧化酸敗，添加抗氧化劑（BHT、BHA），若品管不嚴易超標。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餅乾點心：水分含量極低（Aw &lt; 0.6），【幾乎不加防腐劑】！但為維持酥脆香氣，易添加過量人工抗氧化劑及食用人工色素。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果凍與蒟蒻：膠體（卡拉膠、果膠）本身安全無虞，但為迎合兒童喜好，容易超量添加甜味劑（糖精、阿斯巴甜）與多重新色色素。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重要共識：購買加工食品應養成『檢視成分標籤長度』的自律習慣。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手術用一氧化碳 (CO) 假冒鮮魚大騙局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黑心染色案例警示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黑心手法：將不新鮮、發褐發黑的台灣鯛（吳郭魚）或劣質鮪魚魚肉，通入【高純度一氧化碳 (CO) 氣體】進行表面熏氣處置。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化學作假原理：一氧化碳與魚肉中的【肌紅蛋白 (Myoglobin)】形成極度穩定的『一氧化碳肌紅蛋白』，呈現如現撈般不自然之粉嫩鮮紅色，即使魚肉腐敗臭酸仍永不褪色！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公衛危害：欺騙消費者視覺，誤食腐敗生魚片造成急性食物中毒與組織胺過敏。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法規懲處：台灣法規【絕對嚴禁使用 CO 當發色劑】，檢出即按食品衛生管理法重罰。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3-4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深入防腐劑作用機制與麥當勞漢堡不壞迷思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酸型 vs. 酯型防腐劑化學原理、罐頭嚴禁防腐劑與水分活性 (Aw) 科學真相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防腐劑兩大化學類別機制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酸鹼環境決定活性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酸型防腐劑（抑制黴菌效果優異）：</a:t>
            </a:r>
            <a:br/>
            <a:r>
              <a:t>  - 代表：苯甲酸 (安息香酸)、己二烯酸 (山梨酸)、去水醋酸。</a:t>
            </a:r>
            <a:br/>
            <a:r>
              <a:t>  - 作用條件：強烈依賴酸性環境！在 pH 2.5 ~ 4.0 呈未解離分子態才能穿透細胞膜殺菌；中性環境效力暴跌。</a:t>
            </a:r>
            <a:br/>
            <a:r>
              <a:t>  - 去水醋酸毒性相對較高，僅限乾酪、奶油使用，嚴禁加在麵粉麵包中。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酯型防腐劑 (對羥基苯甲酸酯類 Parabens)：</a:t>
            </a:r>
            <a:br/>
            <a:r>
              <a:t>  - 具酯鍵結構，化學性質極為穩定，受環境 pH 影響小，常用於醬油、醋類及外用化妝品。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罐頭絕對禁忌：【罐頭食品依法絕對禁止添加任何防腐劑】！完全依靠真空密封排除氧氣與商業高溫高壓滅菌達成常溫久存。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破解：麥當勞漢堡放數年不壞之迷思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水分活性 Aw 的力量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網路瘋傳流言：冰島展出的麥當勞最後一份漢堡與薯條，歷經數年放置常溫居然完全沒發霉長蟲，『一定是放了過量防腐劑』？！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施明智教授以食品物理化學破解：</a:t>
            </a:r>
            <a:br/>
            <a:r>
              <a:t>  - 漢堡麵包經烘烤、牛肉漢堡排薄且煎熟、薯條經油炸，水分均在初期快速蒸發。</a:t>
            </a:r>
            <a:br/>
            <a:r>
              <a:t>  - 在乾燥空氣中迅速脫水，【水分活性 (Water Activity, Aw) 降至 0.6 以下】。</a:t>
            </a:r>
            <a:br/>
            <a:r>
              <a:t>  - 微生物生長必須依賴自由水，沒有水細菌與黴菌根本無法繁殖！</a:t>
            </a:r>
            <a:br/>
            <a:r>
              <a:t>  - 結論：是因為『乾燥如木乃伊』而不壞，絕非添加大量防腐劑！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3-5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亞硝酸鹽的兩難、漂白劑二氧化硫與味精迷思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抑制肉毒桿菌 vs. 致癌亞硝胺的權衡、豆製品殺菌劑殘留與 MSG 現代平反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亞硝酸鹽 (Nitrite) 的生死兩難權衡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致命毒素 vs 致癌物權衡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不用亞硝酸鹽的代價：香腸、火腿等真空醃肉極易滋生【肉毒桿菌】，其分泌之神經毒素為已知最強生物毒，致死率高達 30%~50%！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使用亞硝酸鹽的風險：若肉品高溫油炸/煎烤，亞硝酸鹽與肉中二級胺反應生成強致癌物【亞硝胺 (Nitrosamine)】。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科學平衡解方：</a:t>
            </a:r>
            <a:br/>
            <a:r>
              <a:t>  ① 嚴格法定殘留限量 ≤ 70 ppm。</a:t>
            </a:r>
            <a:br/>
            <a:r>
              <a:t>  ② 依法併用維生素 C / 異抗壞血酸，能有效阻斷亞硝胺生成反應。</a:t>
            </a:r>
            <a:br/>
            <a:r>
              <a:t>  ③ 避免將香腸與含大量二級胺食材（如魷魚、干貝、鹹魚）高溫混炒或搭配優酪乳共食。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漂白劑、殺菌劑與味精 (MSG) 迷思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科學解開世紀冤案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漂白劑二氧化硫 (SO₂)：用於金針、竹筍、蜜餞防腐保色，氣喘與過敏體質者攝入易誘發急性呼吸困難；烹煮前以溫水浸泡沖洗可去除大部分殘留。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殺菌劑過氧化氫 (雙氧水)：常用於麵條、豆干殺菌，依法【最終成品不得檢出】！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平反味精 (麩胺酸鈉, MSG) 世紀冤案：</a:t>
            </a:r>
            <a:br/>
            <a:r>
              <a:t>  - 過去所謂『中國餐館症候群（口乾脖子硬）』已被雙盲科學實驗證實無直接關聯。</a:t>
            </a:r>
            <a:br/>
            <a:r>
              <a:t>  - 麩胺酸天然存在於番茄、昆布、乳酪中，無毒且代謝為正常胺基酸；真正問題是其含鈉量（為食鹽的 1/3），多吃易造成鈉攝取過量。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CRITICAL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第三單元前瞻延伸思考：添加物焦慮與潔淨標章浪潮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化學恐懼症 (Chemophobia)、潔淨標章 (Clean Label) 挑戰與超加工食品省思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思考一：大眾的『化學恐懼症 (Chemophobia)』與偽科學行銷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理性科學觀建立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現象：坊間廣告氾濫標榜『100% 無化學添加』，誤導民眾將合法安全的添加物妖魔化為毒藥。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實質：水是化學物、維生素C是抗壞血酸；完全不加防腐劑的即食生鮮反而隱藏極大微生物致死風險。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解方：提升全民公衛素養，宣導『劑量決定毒性（Paracelsus原則）』的理性科學觀。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思考二：全球『潔淨標章 (Clean Label)』浪潮與保存挑戰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綠色加工革命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風潮：歐美與台灣全力推動 Clean Label，要求配方極簡化、剔除人工色素與化學防腐劑。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挑戰：減少添加物後，食品常溫保存期限大幅縮短，若冷鏈運輸微失控，是否增加腐敗報廢與食物浪費？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解方：導入高壓滅菌 (HPP)、微波殺菌及智慧氣體包裝 (MAP) 等物理加工技術替代化學防腐。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思考三：超加工食品 (UPF) 與添加物雞尾酒效應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腸道微生態考量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現象：多數添加物個別毒性均在 ADI 內，但超加工食品（零食、手搖飲）同時混用十數種添加劑。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隱患：學界對各類合成乳化劑、甜味劑在腸道菌相中的『微生態干擾』及長期複合金字塔效應仍有疑慮。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解方：減少超加工食品攝取比例，提倡『原型食物 (Whole Foods)』為主的日常飲食基底。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思考四：植物肉 (Plant-based Meat) 時代的新添加物辯證</a:t>
            </a:r>
          </a:p>
          <a:p>
            <a:pPr>
              <a:spcAft>
                <a:spcPts val="800"/>
              </a:spcAft>
              <a:defRPr sz="1050" b="1">
                <a:solidFill>
                  <a:srgbClr val="1D4ED8"/>
                </a:solidFill>
              </a:defRPr>
            </a:pPr>
            <a:r>
              <a:t>【 新型飲食倫理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現象：未來肉/植物肉主打環保低碳，但為模擬真肉口感與血水顏色，添加大量甲基纖維素、香精與色素。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矛盾：消費者因追求健康購買植物肉，卻在不知不覺中吞入比真肉更繁複的添加物矩陣。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解方：呼籲新世代食品科技專注於發酵蛋白與微藻蛋白，減少對結構改良劑的重度依賴。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