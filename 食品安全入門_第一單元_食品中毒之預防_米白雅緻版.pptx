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05840"/>
            <a:ext cx="999713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640080"/>
          <a:lstStyle/>
          <a:p>
            <a:pPr algn="ctr">
              <a:spcAft>
                <a:spcPts val="1600"/>
              </a:spcAft>
              <a:defRPr sz="1200" b="1">
                <a:solidFill>
                  <a:srgbClr val="15803D"/>
                </a:solidFill>
              </a:defRPr>
            </a:pPr>
            <a:r>
              <a:t>FOOD SAFETY &amp; HYGIENE MASTERCLASS</a:t>
            </a:r>
          </a:p>
          <a:p>
            <a:pPr>
              <a:spcAft>
                <a:spcPts val="1400"/>
              </a:spcAft>
              <a:defRPr sz="2900" b="1">
                <a:solidFill>
                  <a:srgbClr val="1C1917"/>
                </a:solidFill>
              </a:defRPr>
            </a:pPr>
            <a:r>
              <a:t>食品安全入門：食品中毒之預防機制與實務策略</a:t>
            </a:r>
          </a:p>
          <a:p>
            <a:pPr>
              <a:spcAft>
                <a:spcPts val="3600"/>
              </a:spcAft>
              <a:defRPr sz="1450">
                <a:solidFill>
                  <a:srgbClr val="78716C"/>
                </a:solidFill>
              </a:defRPr>
            </a:pPr>
            <a:r>
              <a:t>從本土流行病學大數據、微生物病理致病機轉到衛生防禦五要原則與新興飲食省思</a:t>
            </a:r>
          </a:p>
          <a:p>
            <a:pPr>
              <a:defRPr sz="1250">
                <a:solidFill>
                  <a:srgbClr val="15803D"/>
                </a:solidFill>
              </a:defRPr>
            </a:pPr>
            <a:r>
              <a:t>課程講授：施明智 教授（文化大學保健營養學系 / 衛福部餐飲 HACCP 評鑑委員）</a:t>
            </a:r>
            <a:br/>
            <a:r>
              <a:t>專題整理：第一章全單元重點解析與前瞻延伸思考（米白雅緻精萃版）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1-1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食品中毒法定定義與台灣歷年食安大數據趨勢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剖析民國 70~108 年官方判明案件，洞察病因物質排行、高發場所與危險食品結構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法定定義與成立要件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法律與公衛基石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2人以上攝取相同食品引發相似症狀即成立。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關鍵特例（1人即成立）：</a:t>
            </a:r>
            <a:br/>
            <a:r>
              <a:t>  - 肉毒桿菌毒素中毒</a:t>
            </a:r>
            <a:br/>
            <a:r>
              <a:t>  - 急性化學物質中毒</a:t>
            </a:r>
            <a:br/>
            <a:r>
              <a:t>  - 動植物天然毒素中毒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患者人體檢體與剩餘食物留樣雙重交叉比對。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多數未就醫輕症案件常隱沒於公衛黑數中。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病因物質歷史大數據</a:t>
            </a:r>
          </a:p>
          <a:p>
            <a:pPr>
              <a:spcAft>
                <a:spcPts val="800"/>
              </a:spcAft>
              <a:defRPr sz="1050" b="1">
                <a:solidFill>
                  <a:srgbClr val="C2410C"/>
                </a:solidFill>
              </a:defRPr>
            </a:pPr>
            <a:r>
              <a:t>【 流行病學排名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細菌性案件佔絕對大宗（判明達1,200+件）。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歷年細菌案件總量排行：</a:t>
            </a:r>
            <a:br/>
            <a:r>
              <a:t>  1. 腸炎弧菌 (1,664件，長年居冠)</a:t>
            </a:r>
            <a:br/>
            <a:r>
              <a:t>  2. 金黃色葡萄球菌 (655件)</a:t>
            </a:r>
            <a:br/>
            <a:r>
              <a:t>  3. 仙人掌桿菌 (473件)</a:t>
            </a:r>
            <a:br/>
            <a:r>
              <a:t>  4. 沙門氏桿菌 (344件)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新興轉折：民國108年諾羅病毒件數首度超越細菌。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中毒人數排行榜：近年仙人掌桿菌因團膳常列第一。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高發場所與食品樣態</a:t>
            </a:r>
          </a:p>
          <a:p>
            <a:pPr>
              <a:spcAft>
                <a:spcPts val="800"/>
              </a:spcAft>
              <a:defRPr sz="1050" b="1">
                <a:solidFill>
                  <a:srgbClr val="B45309"/>
                </a:solidFill>
              </a:defRPr>
            </a:pPr>
            <a:r>
              <a:t>【 危險情境靶點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場所排行 Top 3：</a:t>
            </a:r>
            <a:br/>
            <a:r>
              <a:t>  1. 供膳營業場所 (餐廳/便當店)</a:t>
            </a:r>
            <a:br/>
            <a:r>
              <a:t>  2. 學校 (營養午餐/桶餐)</a:t>
            </a:r>
            <a:br/>
            <a:r>
              <a:t>  3. 自宅 (家庭保存不當)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原因食品分佈佔比：</a:t>
            </a:r>
            <a:br/>
            <a:r>
              <a:t>  - 複合調理食品 (盒餐/便當)：72% 居冠</a:t>
            </a:r>
            <a:br/>
            <a:r>
              <a:t>  - 蔬果及其加工品：10%</a:t>
            </a:r>
            <a:br/>
            <a:r>
              <a:t>  - 水產品：10%</a:t>
            </a:r>
            <a:br/>
            <a:r>
              <a:t>  - 肉類：5%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盒餐多菜色、生熟交叉、常溫暴露是致災核心。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1-2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細菌性食品中毒三大病理機轉模型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深入感染型、毒素型與中間型的病理差異、潛伏期長短與致病關鍵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感染型 (Infection)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活菌體體內增殖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作用機制：吃入大量活菌體，活菌在腸道黏膜大量增殖並侵犯組織。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潛伏期：較長，通常 8 ~ 24 小時以上。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代表菌種：腸炎弧菌、沙門氏桿菌、病原性大腸桿菌。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症狀特徵：腹絞痛、水樣便、伴隨發燒反應。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防禦弱點：菌體不耐熱，中心溫度達 70°C 澈底加熱可殺死。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毒素型 (Intoxication)</a:t>
            </a:r>
          </a:p>
          <a:p>
            <a:pPr>
              <a:spcAft>
                <a:spcPts val="800"/>
              </a:spcAft>
              <a:defRPr sz="1050" b="1">
                <a:solidFill>
                  <a:srgbClr val="C2410C"/>
                </a:solidFill>
              </a:defRPr>
            </a:pPr>
            <a:r>
              <a:t>【 預先產毒・毒素致病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作用機制：細菌在食材中預先大量繁殖並分泌外毒素，人體攝入耐熱毒素發病。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潛伏期：極短，僅 0.5 ~ 6 小時（發作急遽）。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代表菌種：金黃色葡萄球菌、肉毒桿菌。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症狀特徵：劇烈噴射狀嘔吐、噁心，通常不發燒。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防禦困境：外毒素極度耐熱，事後回鍋加熱仍無法去毒！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中間型 (Toxicoinfection)</a:t>
            </a:r>
          </a:p>
          <a:p>
            <a:pPr>
              <a:spcAft>
                <a:spcPts val="800"/>
              </a:spcAft>
              <a:defRPr sz="1050" b="1">
                <a:solidFill>
                  <a:srgbClr val="B45309"/>
                </a:solidFill>
              </a:defRPr>
            </a:pPr>
            <a:r>
              <a:t>【 體內產毒・芽孢裂解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作用機制：吃入活菌，菌體在腸道內形成芽孢或裂解過程中釋放腸毒素。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潛伏期：居中，約 8 ~ 16 小時。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代表菌種：仙人掌桿菌（腹瀉型）、產氣莢膜梭菌。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症狀特徵：下腹絞痛與水樣腹瀉，極少嘔吐。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防線要點：避免熟食在常溫緩慢冷卻，防止芽孢萌發。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1-2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生鮮海味的隱匿殺手：腸炎弧菌與創傷弧菌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嗜鹽菌生態、10分鐘世代極速增殖與廚房交叉污染途徑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腸炎弧菌 (Vibrio parahaemolyticus)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本土歷史案件數之冠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嗜鹽性 (Halophilic)：最適生長鹽度 2% ~ 4%，廣泛分布於沿海泥沙與魚貝類。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增殖世代極速：在 30~37°C 適溫下，倍增時間僅約 10~12 分鐘！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交叉污染致病盲點：多數中毒非直接吃生海鮮，而是砧板、菜刀處理生魚後直接切熟食/小菜引起。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致命弱點：極度不耐淡水（自來水沖洗易滲透壓破裂死亡）且不耐熱（60°C 15分鐘即死）。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警戒對照：創傷弧菌 (Vibrio vulnificus)</a:t>
            </a:r>
          </a:p>
          <a:p>
            <a:pPr>
              <a:spcAft>
                <a:spcPts val="800"/>
              </a:spcAft>
              <a:defRPr sz="1050" b="1">
                <a:solidFill>
                  <a:srgbClr val="C2410C"/>
                </a:solidFill>
              </a:defRPr>
            </a:pPr>
            <a:r>
              <a:t>【 致命級壞死性感染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俗稱海洋弧菌，同屬弧菌屬，但侵襲組織破壞力極度凶猛。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感染途徑：除生食外，主要經由處理海鮮時被甲殼魚鰭刺傷傷口感染。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臨床危險病程：引發壞死性筋膜炎、菌血症、組織快速黑死，致死率高達 50%。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高危險群：慢性肝病、肝硬化、酒精性肝炎及免疫機能缺陷者。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防護規範：處理帶刺甲殼類戴厚手套；手有傷口嚴禁碰海水生鮮。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1-3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耐熱外毒素霸主：金黃色葡萄球菌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人體化膿傷口污染、高耐鹽特性與 100°C 沸水煮不爛的腸毒素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細菌生態與傷口源頭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廚工傷口大本營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菌體來源：正常人體之皮膚表面、毛髮、鼻腔咽喉黏膜。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最大危險源：手部化膿性傷口、粉刺疔瘡、切傷受感染處。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極端耐鹽性：能在高達 7.5% ~ 10% NaCl 高鹽濃度下旺盛增殖。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高風險受害食品：手作飯糰、壽司、三明治、切片熟肉、沙拉盒餐等高度仰賴手部調理之即食食品。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從業禁令：廚工手部有化膿傷口者，依法嚴禁直接接觸供膳食品！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腸毒素之致命耐熱特性</a:t>
            </a:r>
          </a:p>
          <a:p>
            <a:pPr>
              <a:spcAft>
                <a:spcPts val="800"/>
              </a:spcAft>
              <a:defRPr sz="1050" b="1">
                <a:solidFill>
                  <a:srgbClr val="C2410C"/>
                </a:solidFill>
              </a:defRPr>
            </a:pPr>
            <a:r>
              <a:t>【 高溫無法去毒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致病機轉（毒素型）：菌體在室溫食品中釋放耐熱外腸毒素 (Enterotoxin)。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急性發作：潛伏期極短（1 ~ 6 小時），連續噴射狀劇烈嘔吐、腹痛脫水，通常不發燒。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加熱迷思破解：</a:t>
            </a:r>
            <a:br/>
            <a:r>
              <a:t>  - 菌體本身 80°C 加熱即可殺死。</a:t>
            </a:r>
            <a:br/>
            <a:r>
              <a:t>  - 但其分泌的腸毒素在 100°C 沸水滾煮 30 分鐘依然毒性不減！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關鍵認知：食物放久變質『熱滾一下就能吃』是致命迷思！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1-3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禽蛋生態鏈之感染主力：沙門氏桿菌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禽畜腸道帶原、未熟蛋品危機與 38~40°C 稽留性高燒鑑別指標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宿主生態與食物鏈傳播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蛋禽類頭號殺手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動物宿主：普遍存在於雞、鴨、豬、牛等家禽家畜腸道及鼠類、蟑螂。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禽蛋污染雙途徑：</a:t>
            </a:r>
            <a:br/>
            <a:r>
              <a:t>  - 垂直感染：母雞卵巢感染直接進入蛋液內部。</a:t>
            </a:r>
            <a:br/>
            <a:r>
              <a:t>  - 水平感染：產蛋時蛋殼沾染糞便，保存不當穿透氣孔。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高危險食材：未洗選鮮蛋、生蛋拌飯、美乃滋、提拉米蘇、半熟溫泉蛋、未完全熟透之禽肉製品。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豆製品隱患：豆餡、豆干常因器具受禽肉交叉污染而引爆。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感染病理與防治要點</a:t>
            </a:r>
          </a:p>
          <a:p>
            <a:pPr>
              <a:spcAft>
                <a:spcPts val="800"/>
              </a:spcAft>
              <a:defRPr sz="1050" b="1">
                <a:solidFill>
                  <a:srgbClr val="B45309"/>
                </a:solidFill>
              </a:defRPr>
            </a:pPr>
            <a:r>
              <a:t>【 高燒血便鑑別點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典型感染型：侵入迴腸與結腸黏膜，潛伏期約 12 ~ 36 小時。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鑑別性症狀：伴隨 38°C ~ 40°C 劇烈高燒、畏寒、腹絞痛與帶黏液血便（高燒為與金葡菌重要鑑別點）。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溫度弱點：不耐熱！加熱至中心溫度 70°C 維持數分鐘即可全滅。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防禦黃金法則：</a:t>
            </a:r>
            <a:br/>
            <a:r>
              <a:t>  - 全面選購合格洗選蛋 (Washed Eggs)。</a:t>
            </a:r>
            <a:br/>
            <a:r>
              <a:t>  - 孕婦、幼童、長者嚴禁生食未熟蛋料理。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1-4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出血性致命怪獸：病原性大腸桿菌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從美國 Jack in the Box 漢堡到歐洲有機豆芽菜事件的歷史警示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致病株分類與毒力機制</a:t>
            </a:r>
          </a:p>
          <a:p>
            <a:pPr>
              <a:spcAft>
                <a:spcPts val="800"/>
              </a:spcAft>
              <a:defRPr sz="1050" b="1">
                <a:solidFill>
                  <a:srgbClr val="C2410C"/>
                </a:solidFill>
              </a:defRPr>
            </a:pPr>
            <a:r>
              <a:t>【 志賀毒素與 HUS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腸道正常大腸桿菌無害，但帶毒力基因株具致命毒性。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五大分型：ETEC (產毒)、EIEC (侵襲)、EPEC (致病)、EAEC (黏附)、EHEC/STEC (腸道出血性)。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EHEC 殺手級毒力：分泌志賀毒素 (Shiga toxin)，摧毀微血管內皮。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重症危機：引起嚴重出血性結腸炎（鮮血便），更會引發溶血性尿毒症候群 (HUS)，導致急性腎衰竭與不可逆神經損傷。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歷史重大世紀公衛慘案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世紀食安經典案例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美國 Jack in the Box 漢堡事件 (O157:H7)：</a:t>
            </a:r>
            <a:br/>
            <a:r>
              <a:t>  - 牛隻屠宰糞便污染牛肉，絞肉機將表面菌均勻拌入絞肉深層。</a:t>
            </a:r>
            <a:br/>
            <a:r>
              <a:t>  - 漢堡肉煎煮時間不足、中心未熟，釀成數百人重症與多名幼童死亡。</a:t>
            </a:r>
            <a:br/>
            <a:r>
              <a:t>  - 促使美國全面立法將絞肉熟化溫度定為 160°F (71°C)。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德國有機豆芽菜事件 (O104:H4)：灌溉水受糞便污染，生吃芽菜引發歐洲數千人重症。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教訓：絞肉製品絕對不可吃半熟；生菜用水需達生飲標準。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1-4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團膳米飯噩夢：仙人掌桿菌 (Bacillus cereus)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耐熱芽孢、炒飯症候群 (Fried Rice Syndrome) 與雙重毒素致病型態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微生物特性與產孢生存策略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耐熱芽孢・休眠萌發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廣泛存在於土壤灰塵中，農作物、穀類（稻米、小麥）帶菌率極高。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產芽孢桿菌 (Spore-former)：在高溫逆境下形成微小休眠芽孢。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耐熱芽孢陷阱：</a:t>
            </a:r>
            <a:br/>
            <a:r>
              <a:t>  - 煮飯高溫殺死細菌細胞，但芽孢耐熱存活！</a:t>
            </a:r>
            <a:br/>
            <a:r>
              <a:t>  - 大鍋熟米飯若置於常溫（20~40°C）緩慢冷卻，芽孢感知適溫立即萌發生長並大量產毒。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大型團膳殺手：學校桶餐米飯、隔夜炒飯是歷史最高發場所。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雙重致病毒素型態比較</a:t>
            </a:r>
          </a:p>
          <a:p>
            <a:pPr>
              <a:spcAft>
                <a:spcPts val="800"/>
              </a:spcAft>
              <a:defRPr sz="1050" b="1">
                <a:solidFill>
                  <a:srgbClr val="B45309"/>
                </a:solidFill>
              </a:defRPr>
            </a:pPr>
            <a:r>
              <a:t>【 雙毒素鑑別體系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嘔吐型 (Emetic type)——炒飯症候群：</a:t>
            </a:r>
            <a:br/>
            <a:r>
              <a:t>  - 毒素：Cereulide，極度耐熱（126°C 加熱 90 分鐘仍不滅）。</a:t>
            </a:r>
            <a:br/>
            <a:r>
              <a:t>  - 潛伏期：0.5 ~ 5 小時，劇烈嘔吐腹痛；多見於米飯、炒飯。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腹瀉型 (Diarrheal type)：</a:t>
            </a:r>
            <a:br/>
            <a:r>
              <a:t>  - 毒素：腸毒素，體內產毒，不耐熱（56°C 5分鐘去活）。</a:t>
            </a:r>
            <a:br/>
            <a:r>
              <a:t>  - 潛伏期：8 ~ 16 小時，水樣下痢腹絞痛；多見於肉汁濃湯。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防禦鐵則：熟飯絕不可在常溫久置，需快冷冷藏或維持 60°C 以上熱存！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1-4 &amp; 1-5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現代食安之王：諾羅病毒與『無包膜』消毒迷思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超低感染劑量、糞口循環與為何 75% 酒精對其無能為力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病毒學特異性與群聚破壞力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微量致病・集體癱瘓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極端致病力：僅需 1 ~ 100 顆病毒顆粒即可致病，全員易感。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傳播鏈：接觸病患排泄物/嘔吐物污染之水與食品、吸入嘔吐物氣溶膠。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指標高風險食品：牡蠣、生蠔、文蛤等濾食性雙殼貝類（體內高度濃縮污水中之病毒）。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群聚特徵：校園、養護中心、觀光郵輪一夕爆發數百人集體感染。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症狀：潛伏期 24~48 小時，大量噴射狀嘔吐、水瀉、發燒肌肉痛。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無包膜結構與酒精無效真相</a:t>
            </a:r>
          </a:p>
          <a:p>
            <a:pPr>
              <a:spcAft>
                <a:spcPts val="800"/>
              </a:spcAft>
              <a:defRPr sz="1050" b="1">
                <a:solidFill>
                  <a:srgbClr val="C2410C"/>
                </a:solidFill>
              </a:defRPr>
            </a:pPr>
            <a:r>
              <a:t>【 破解乾洗手神話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包膜病毒 (新冠/流感)：外有脂質雙層膜，75% 酒精可溶解脂質使其去活。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無包膜病毒 (諾羅/腸病毒)：無脂質膜，外殼為堅韌蛋白質衣殼 (Capsid)。</a:t>
            </a:r>
            <a:br/>
            <a:r>
              <a:t>  - 75% 酒精完全無法破壞衣殼，乾洗手對諾羅完全無效！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正確清潔防線：肥皂流水洗手 20 秒，靠界面活性劑機械性沖刷剝離。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環境消毒標準：必須使用次氯酸鈉（稀釋漂白水）！</a:t>
            </a:r>
            <a:br/>
            <a:r>
              <a:t>  - 一般環境：500 ppm</a:t>
            </a:r>
            <a:br/>
            <a:r>
              <a:t>  - 嘔吐物污染區：1,000 ~ 5,000 ppm 靜置消毒。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1-6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衛生防禦實務：洗手科學實驗與五要原則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實驗數據揭示手部菌落變化、指甲衛生規範與關鍵溫度帶控制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洗手科學化實驗大數據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去除99%細菌實證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未洗手狀態：手部菌落數高達 10^4 ~ 10^5 CFU。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清水單純沖洗：手部仍殘留高達 10^3 CFU（無法去皮脂附著菌）。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肥皂/洗手乳澈底洗手：消消除去除手部 99% 以上的細菌！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20 SECONDS 原則：抹肥皂後，指尖、指縫、手心手背揉搓至少 20 秒。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人員指甲規範：</a:t>
            </a:r>
            <a:br/>
            <a:r>
              <a:t>  - 長度：手指平視不可超出指尖肉（指甲縫為細菌溫床）。</a:t>
            </a:r>
            <a:br/>
            <a:r>
              <a:t>  - 嚴禁指甲油/美甲：碎片易脫落污染餐點造成物理與化學危害。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TFDA 食品中毒防治五要原則</a:t>
            </a:r>
          </a:p>
          <a:p>
            <a:pPr>
              <a:spcAft>
                <a:spcPts val="800"/>
              </a:spcAft>
              <a:defRPr sz="1050" b="1">
                <a:solidFill>
                  <a:srgbClr val="B45309"/>
                </a:solidFill>
              </a:defRPr>
            </a:pPr>
            <a:r>
              <a:t>【 食安鐵律基石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1. 要洗手：調理前、如廁後嚴格肥皂洗手 20 秒；手有傷口戴手套。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2. 要新鮮：食材來源潔淨新鮮，生水絕不可生飲。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3. 要生熟食分開：專用刀具砧板顏色分流，杜絕交叉污染。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4. 要澈底加熱：中心溫度超過 70°C，徹底破壞病原菌與毒素。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5. 要注意保存溫度：</a:t>
            </a:r>
            <a:br/>
            <a:r>
              <a:t>  - 避開 7°C ~ 60°C 危險溫度帶 (Danger Zone)！</a:t>
            </a:r>
            <a:br/>
            <a:r>
              <a:t>  - 熱存 &gt; 60°C，冷藏 &lt; 7°C，常溫不可超過 2 小時。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COMPREHENSIVE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第一單元：六大核心病原微生物全方位對比矩陣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橫向統整型態、潛伏期、毒素耐熱性、典型症狀與關鍵防線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1371600"/>
                <a:gridCol w="2103120"/>
                <a:gridCol w="2377440"/>
                <a:gridCol w="2041855"/>
              </a:tblGrid>
              <a:tr h="66620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917"/>
                          </a:solidFill>
                        </a:defRPr>
                      </a:pPr>
                      <a:r>
                        <a:t>病原微生物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917"/>
                          </a:solidFill>
                        </a:defRPr>
                      </a:pPr>
                      <a:r>
                        <a:t>作用型態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917"/>
                          </a:solidFill>
                        </a:defRPr>
                      </a:pPr>
                      <a:r>
                        <a:t>潛伏期區間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917"/>
                          </a:solidFill>
                        </a:defRPr>
                      </a:pPr>
                      <a:r>
                        <a:t>高風險指標食品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917"/>
                          </a:solidFill>
                        </a:defRPr>
                      </a:pPr>
                      <a:r>
                        <a:t>致病特性 / 毒素耐熱性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917"/>
                          </a:solidFill>
                        </a:defRPr>
                      </a:pPr>
                      <a:r>
                        <a:t>核心防禦控制手段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腸炎弧菌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感染型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2 ~ 48 小時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生鮮魚蝦貝類、海鮮小菜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嗜鹽性、繁殖極速（10分鐘一代）、不耐淡水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自來水澈底沖洗、煮熟、生熟砧板嚴格分開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金黃色葡萄球菌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毒素型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1 ~ 6 小時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手作壽司、飯糰、沙拉、熟肉切片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化膿傷口帶原、耐鹽；腸毒素 100°C 煮 30 分鐘不壞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手傷嚴禁供膳、全程戴手套、嚴格低溫冷藏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沙門氏桿菌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感染型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6 ~ 72 小時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鮮蛋、生蛋製品（美乃滋）、禽肉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侵入腸黏膜引起 38~40°C 高燒與黏液血便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採購洗選蛋、中心溫度 70°C 熟透、分色刀具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仙人掌桿菌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毒素/中間型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0.5~5h (嘔吐)</a:t>
                      </a:r>
                    </a:p>
                    <a:p>
                      <a:r>
                        <a:t>8~16h (腹瀉)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熟米飯、炒飯、馬鈴薯、濃湯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土壤產孢耐熱菌（嘔吐毒素 126°C 90min 存活）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米飯煮熟禁在 7~60°C 常溫放涼、快速低溫冷藏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病原性大腸桿菌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感染/產毒型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2 ~ 8 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未熟漢堡肉絞肉、有機生菜芽菜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EHEC 產志賀毒素，破壞血管內皮致 HUS 急性腎衰竭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絞肉漢堡排絕對熟透、生菜洗滌達生飲標準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諾羅病毒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病毒感染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10 ~ 72 小時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生蠔貝類、污染水源、廚工雙手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無包膜病毒，75% 酒精無效；1~100顆微量即發病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03C"/>
                          </a:solidFill>
                        </a:defRPr>
                      </a:pPr>
                      <a:r>
                        <a:t>肥皂流水洗手 20s、次氯酸鈉（漂白水）消毒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CRITICAL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前瞻延伸思考：現代飲食型態下的食安新挑戰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從外送平台延遲、低溫烹調流行到跨物種抗生素耐藥性風險的深度叩問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思考一：外送經濟與溫控斷裂之風險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外送產業鏈漏洞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現象：外送餐點從製作、外送員取餐到送達常超過 60~90 分鐘。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隱患：便當（佔中毒 72%）長時間暴露於 20~50°C 核心危險溫度帶，為仙人掌桿菌與金葡菌絕佳溫床。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解方：推動外送箱溫控監控、出餐強制標註『最佳賞味時限』。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思考二：舒肥低溫慢煮之烹飪盲點</a:t>
            </a:r>
          </a:p>
          <a:p>
            <a:pPr>
              <a:spcAft>
                <a:spcPts val="800"/>
              </a:spcAft>
              <a:defRPr sz="1050" b="1">
                <a:solidFill>
                  <a:srgbClr val="B45309"/>
                </a:solidFill>
              </a:defRPr>
            </a:pPr>
            <a:r>
              <a:t>【 流行烹飪陷阱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現象：坊間流行 50°C~58°C 低溫舒肥牛排、雞胸肉以維持軟嫩。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隱患：若加熱時間不足以殺滅深層沙門氏菌或產氣莢膜梭菌，低溫真空反而提供厭氧增殖溫床。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解方：舒肥須嚴格匹配 D/Z 值致死時間溫度表，完成後速冷。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思考三：耐藥性超級細菌 (AMR)</a:t>
            </a:r>
          </a:p>
          <a:p>
            <a:pPr>
              <a:spcAft>
                <a:spcPts val="800"/>
              </a:spcAft>
              <a:defRPr sz="1050" b="1">
                <a:solidFill>
                  <a:srgbClr val="C2410C"/>
                </a:solidFill>
              </a:defRPr>
            </a:pPr>
            <a:r>
              <a:t>【 全球公衛威脅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現象：畜牧業抗生素過度濫用促使沙門氏菌、大腸桿菌產生廣效性耐藥（ESBL）。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衝擊：過去常規抗生素可控的中毒，未來恐演變為無藥可醫之敗血症重症。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解方：落實『健康一體 (One Health)』源頭減抗與基因監測。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思考四：HACCP 與家庭食安斷層</a:t>
            </a:r>
          </a:p>
          <a:p>
            <a:pPr>
              <a:spcAft>
                <a:spcPts val="800"/>
              </a:spcAft>
              <a:defRPr sz="1050" b="1">
                <a:solidFill>
                  <a:srgbClr val="1D4ED8"/>
                </a:solidFill>
              </a:defRPr>
            </a:pPr>
            <a:r>
              <a:t>【 認知普惠轉化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現象：自宅佔中毒第三名，源於大眾對『酒精消毒無效』、『剩飯常溫放涼』等迷思未解。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盲點：稽查多集中工廠餐廳，家庭廚房常成衛生盲區。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解方：將食安風險溝通生活化，建立全民溫控直覺。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